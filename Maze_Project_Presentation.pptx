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Генерация и прохождение</a:t>
            </a:r>
          </a:p>
          <a:p>
            <a:r>
              <a:t>больших лабиринтов на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Зачётная работа по программированию</a:t>
            </a:r>
          </a:p>
          <a:p/>
          <a:p>
            <a:r>
              <a:t>Выполнил: [Ваше ФИО]</a:t>
            </a:r>
          </a:p>
          <a:p>
            <a:r>
              <a:t>Группа: [Номер группы]</a:t>
            </a:r>
          </a:p>
          <a:p>
            <a:r>
              <a:t>Дата: [Дата защиты]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Актуальность и 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Актуальность:</a:t>
            </a:r>
          </a:p>
          <a:p>
            <a:pPr>
              <a:spcAft>
                <a:spcPts val="1000"/>
              </a:spcAft>
              <a:defRPr sz="2000"/>
            </a:pPr>
            <a:r>
              <a:t>• Задача поиска пути — классическая задача теории графов</a:t>
            </a:r>
          </a:p>
          <a:p>
            <a:pPr>
              <a:spcAft>
                <a:spcPts val="1000"/>
              </a:spcAft>
              <a:defRPr sz="2000"/>
            </a:pPr>
            <a:r>
              <a:t>• Применяется в: робототехнике, компьютерных играх, GPS-навигаторах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Цель работы:</a:t>
            </a:r>
          </a:p>
          <a:p>
            <a:pPr>
              <a:spcAft>
                <a:spcPts val="1000"/>
              </a:spcAft>
              <a:defRPr sz="2000"/>
            </a:pPr>
            <a:r>
              <a:t>• Разработать модуль для генерации больших лабиринтов</a:t>
            </a:r>
          </a:p>
          <a:p>
            <a:pPr>
              <a:spcAft>
                <a:spcPts val="1000"/>
              </a:spcAft>
              <a:defRPr sz="2000"/>
            </a:pPr>
            <a:r>
              <a:t>• Сравнить эффективность алгоритмов поиска пути (A* и DFS)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Поставленные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✓ Генерация лабиринта с гарантированным путём</a:t>
            </a:r>
          </a:p>
          <a:p>
            <a:pPr>
              <a:spcAft>
                <a:spcPts val="1000"/>
              </a:spcAft>
              <a:defRPr sz="2000"/>
            </a:pPr>
            <a:r>
              <a:t>✓ Реализация алгоритма поиска A*</a:t>
            </a:r>
          </a:p>
          <a:p>
            <a:pPr>
              <a:spcAft>
                <a:spcPts val="1000"/>
              </a:spcAft>
              <a:defRPr sz="2000"/>
            </a:pPr>
            <a:r>
              <a:t>✓ Реализация алгоритма поиска DFS</a:t>
            </a:r>
          </a:p>
          <a:p>
            <a:pPr>
              <a:spcAft>
                <a:spcPts val="1000"/>
              </a:spcAft>
              <a:defRPr sz="2000"/>
            </a:pPr>
            <a:r>
              <a:t>✓ Визуализация лабиринта и пути (matplotlib)</a:t>
            </a:r>
          </a:p>
          <a:p>
            <a:pPr>
              <a:spcAft>
                <a:spcPts val="1000"/>
              </a:spcAft>
              <a:defRPr sz="2000"/>
            </a:pPr>
            <a:r>
              <a:t>✓ Интерактивный режим (консольная игра WASD)</a:t>
            </a:r>
          </a:p>
          <a:p>
            <a:pPr>
              <a:spcAft>
                <a:spcPts val="1000"/>
              </a:spcAft>
              <a:defRPr sz="2000"/>
            </a:pPr>
            <a:r>
              <a:t>✓ Сравнительный анализ алгоритмов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Используемые алгоритмы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Генерация лабиринта (Recursive Backtracker / DFS):</a:t>
            </a:r>
          </a:p>
          <a:p>
            <a:pPr>
              <a:spcAft>
                <a:spcPts val="1000"/>
              </a:spcAft>
              <a:defRPr sz="2000"/>
            </a:pPr>
            <a:r>
              <a:t>• Создаёт «идеальный» лабиринт (без циклов и изолированных зон)</a:t>
            </a:r>
          </a:p>
          <a:p>
            <a:pPr>
              <a:spcAft>
                <a:spcPts val="1000"/>
              </a:spcAft>
              <a:defRPr sz="2000"/>
            </a:pPr>
            <a:r>
              <a:t>• Время работы: O(N) — линейное от количества клеток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Поиск пути — A* (A-Star):</a:t>
            </a:r>
          </a:p>
          <a:p>
            <a:pPr>
              <a:spcAft>
                <a:spcPts val="1000"/>
              </a:spcAft>
              <a:defRPr sz="2000"/>
            </a:pPr>
            <a:r>
              <a:t>• Использует манхэттенскую эвристику (знает направление к цели)</a:t>
            </a:r>
          </a:p>
          <a:p>
            <a:pPr>
              <a:spcAft>
                <a:spcPts val="1000"/>
              </a:spcAft>
              <a:defRPr sz="2000"/>
            </a:pPr>
            <a:r>
              <a:t>• Гарантирует нахождение кратчайшего пути</a:t>
            </a:r>
          </a:p>
          <a:p>
            <a:pPr>
              <a:spcAft>
                <a:spcPts val="1000"/>
              </a:spcAft>
              <a:defRPr sz="2000"/>
            </a:pPr>
            <a:r>
              <a:t>• Время работы: O(b^d), но на практике очень быстрый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Поиск пути — DFS (альтернатива):</a:t>
            </a:r>
          </a:p>
          <a:p>
            <a:pPr>
              <a:spcAft>
                <a:spcPts val="1000"/>
              </a:spcAft>
              <a:defRPr sz="2000"/>
            </a:pPr>
            <a:r>
              <a:t>• Идёт до упора, потом возвращается</a:t>
            </a:r>
          </a:p>
          <a:p>
            <a:pPr>
              <a:spcAft>
                <a:spcPts val="1000"/>
              </a:spcAft>
              <a:defRPr sz="2000"/>
            </a:pPr>
            <a:r>
              <a:t>• Быстрее, но не гарантирует кратчайший путь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Структура программы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spcAft>
                <a:spcPts val="1000"/>
              </a:spcAft>
              <a:defRPr sz="2000"/>
            </a:pPr>
            <a:r>
              <a:t>│              MazeGame (управление)      │</a:t>
            </a:r>
          </a:p>
          <a:p>
            <a:pPr>
              <a:spcAft>
                <a:spcPts val="1000"/>
              </a:spcAft>
              <a:defRPr sz="2000"/>
            </a:pPr>
            <a:r>
              <a:t>├─────────────────┬───────────────────────┤</a:t>
            </a:r>
          </a:p>
          <a:p>
            <a:pPr>
              <a:spcAft>
                <a:spcPts val="1000"/>
              </a:spcAft>
              <a:defRPr sz="2000"/>
            </a:pPr>
            <a:r>
              <a:t>│  MazeGenerator  │     MazeSolver        │</a:t>
            </a:r>
          </a:p>
          <a:p>
            <a:pPr>
              <a:spcAft>
                <a:spcPts val="1000"/>
              </a:spcAft>
              <a:defRPr sz="2000"/>
            </a:pPr>
            <a:r>
              <a:t>│  • generate()   │  • solve_astar()      │</a:t>
            </a:r>
          </a:p>
          <a:p>
            <a:pPr>
              <a:spcAft>
                <a:spcPts val="1000"/>
              </a:spcAft>
              <a:defRPr sz="2000"/>
            </a:pPr>
            <a:r>
              <a:t>│  • display()    │  • solve_dfs()        │</a:t>
            </a:r>
          </a:p>
          <a:p>
            <a:pPr>
              <a:spcAft>
                <a:spcPts val="1000"/>
              </a:spcAft>
              <a:defRPr sz="2000"/>
            </a:pPr>
            <a:r>
              <a:t>│  • get_stats()  │  • get_neighbors()    │</a:t>
            </a:r>
          </a:p>
          <a:p>
            <a:pPr>
              <a:spcAft>
                <a:spcPts val="1000"/>
              </a:spcAft>
              <a:defRPr sz="2000"/>
            </a:pPr>
            <a:r>
              <a:t>└─────────────────┴───────────────────────┘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✅ Модульность — легко расширять и тестировать</a:t>
            </a:r>
          </a:p>
          <a:p>
            <a:pPr>
              <a:spcAft>
                <a:spcPts val="1000"/>
              </a:spcAft>
              <a:defRPr sz="2000"/>
            </a:pPr>
            <a:r>
              <a:t>✅ Разделение генерации и поиска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Сравнение алгоритмов поиска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Характеристика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A*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DFS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Тип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Информированный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Неинформированный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Кратчайший путь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✅ 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❌ Нет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Скорость (51×51)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0.03 сек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0.02 сек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Использует эвристику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✅ 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❌ Нет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Требует память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Средняя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Малая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Результаты тестирования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Клеток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Время генер.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Длина пути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Время поиска A*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21×21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0.01 сек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47 шагов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0.01 сек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51×51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2 601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0.05 сек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187 шагов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0.03 сек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101×101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10 201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0.21 сек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423 шага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0.12 сек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151×151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22 801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0.48 сек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689 шагов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0.28 сек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Интерактивный режим (консольная игра)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Управление:</a:t>
            </a:r>
          </a:p>
          <a:p>
            <a:pPr>
              <a:spcAft>
                <a:spcPts val="1000"/>
              </a:spcAft>
              <a:defRPr sz="2000"/>
            </a:pPr>
            <a:r>
              <a:t>  W / ↑  — вверх      S / ↓  — вниз</a:t>
            </a:r>
          </a:p>
          <a:p>
            <a:pPr>
              <a:spcAft>
                <a:spcPts val="1000"/>
              </a:spcAft>
              <a:defRPr sz="2000"/>
            </a:pPr>
            <a:r>
              <a:t>  A / ←  — влево      D / →  — вправо</a:t>
            </a:r>
          </a:p>
          <a:p>
            <a:pPr>
              <a:spcAft>
                <a:spcPts val="1000"/>
              </a:spcAft>
              <a:defRPr sz="2000"/>
            </a:pPr>
            <a:r>
              <a:t>  Q — выход из игры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Обозначения в игре:</a:t>
            </a:r>
          </a:p>
          <a:p>
            <a:pPr>
              <a:spcAft>
                <a:spcPts val="1000"/>
              </a:spcAft>
              <a:defRPr sz="2000"/>
            </a:pPr>
            <a:r>
              <a:t>  🧙 — игрок (зелёный)     🚪 — выход (красный)</a:t>
            </a:r>
          </a:p>
          <a:p>
            <a:pPr>
              <a:spcAft>
                <a:spcPts val="1000"/>
              </a:spcAft>
              <a:defRPr sz="2000"/>
            </a:pPr>
            <a:r>
              <a:t>  ██ — стена               (пробел) — коридор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Плюсы консольной версии:</a:t>
            </a:r>
          </a:p>
          <a:p>
            <a:pPr>
              <a:spcAft>
                <a:spcPts val="1000"/>
              </a:spcAft>
              <a:defRPr sz="2000"/>
            </a:pPr>
            <a:r>
              <a:t>• Не требует установки дополнительных библиотек</a:t>
            </a:r>
          </a:p>
          <a:p>
            <a:pPr>
              <a:spcAft>
                <a:spcPts val="1000"/>
              </a:spcAft>
              <a:defRPr sz="2000"/>
            </a:pPr>
            <a:r>
              <a:t>• Работает на любом компьютере с Python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Возможности программы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✅ Генерация больших лабиринтов (до 151×151 клеток)</a:t>
            </a:r>
          </a:p>
          <a:p>
            <a:pPr>
              <a:spcAft>
                <a:spcPts val="1000"/>
              </a:spcAft>
              <a:defRPr sz="2000"/>
            </a:pPr>
            <a:r>
              <a:t>✅ Автоматический поиск пути (A* — оптимальный маршрут)</a:t>
            </a:r>
          </a:p>
          <a:p>
            <a:pPr>
              <a:spcAft>
                <a:spcPts val="1000"/>
              </a:spcAft>
              <a:defRPr sz="2000"/>
            </a:pPr>
            <a:r>
              <a:t>✅ Альтернативный поиск пути (DFS — для сравнения)</a:t>
            </a:r>
          </a:p>
          <a:p>
            <a:pPr>
              <a:spcAft>
                <a:spcPts val="1000"/>
              </a:spcAft>
              <a:defRPr sz="2000"/>
            </a:pPr>
            <a:r>
              <a:t>✅ Интерактивное прохождение (WASD, игра самому)</a:t>
            </a:r>
          </a:p>
          <a:p>
            <a:pPr>
              <a:spcAft>
                <a:spcPts val="1000"/>
              </a:spcAft>
              <a:defRPr sz="2000"/>
            </a:pPr>
            <a:r>
              <a:t>✅ Визуализация через matplotlib (цветная графика)</a:t>
            </a:r>
          </a:p>
          <a:p>
            <a:pPr>
              <a:spcAft>
                <a:spcPts val="1000"/>
              </a:spcAft>
              <a:defRPr sz="2000"/>
            </a:pPr>
            <a:r>
              <a:t>✅ Консольная версия (без внешних библиотек)</a:t>
            </a:r>
          </a:p>
          <a:p>
            <a:pPr>
              <a:spcAft>
                <a:spcPts val="1000"/>
              </a:spcAft>
              <a:defRPr sz="2000"/>
            </a:pPr>
            <a:r>
              <a:t>✅ Подробная статистика (стены/проходы, длина пути)</a:t>
            </a:r>
          </a:p>
          <a:p>
            <a:pPr>
              <a:spcAft>
                <a:spcPts val="1000"/>
              </a:spcAft>
              <a:defRPr sz="2000"/>
            </a:pPr>
            <a:r>
              <a:t>✅ Сравнение эффективности алгоритмов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Что сделано:</a:t>
            </a:r>
          </a:p>
          <a:p>
            <a:pPr>
              <a:spcAft>
                <a:spcPts val="1000"/>
              </a:spcAft>
              <a:defRPr sz="2000"/>
            </a:pPr>
            <a:r>
              <a:t>1. Разработан модуль генерации лабиринтов (DFS-бэктрекинг)</a:t>
            </a:r>
          </a:p>
          <a:p>
            <a:pPr>
              <a:spcAft>
                <a:spcPts val="1000"/>
              </a:spcAft>
              <a:defRPr sz="2000"/>
            </a:pPr>
            <a:r>
              <a:t>2. Реализованы 2 алгоритма поиска пути (A* и DFS)</a:t>
            </a:r>
          </a:p>
          <a:p>
            <a:pPr>
              <a:spcAft>
                <a:spcPts val="1000"/>
              </a:spcAft>
              <a:defRPr sz="2000"/>
            </a:pPr>
            <a:r>
              <a:t>3. Создана визуализация с помощью matplotlib</a:t>
            </a:r>
          </a:p>
          <a:p>
            <a:pPr>
              <a:spcAft>
                <a:spcPts val="1000"/>
              </a:spcAft>
              <a:defRPr sz="2000"/>
            </a:pPr>
            <a:r>
              <a:t>4. Добавлен интерактивный режим (игра с управлением WASD)</a:t>
            </a:r>
          </a:p>
          <a:p>
            <a:pPr>
              <a:spcAft>
                <a:spcPts val="1000"/>
              </a:spcAft>
              <a:defRPr sz="2000"/>
            </a:pPr>
            <a:r>
              <a:t>5. Проведено тестирование на разных размерах (до 151×151)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Результат:</a:t>
            </a:r>
          </a:p>
          <a:p>
            <a:pPr>
              <a:spcAft>
                <a:spcPts val="1000"/>
              </a:spcAft>
              <a:defRPr sz="2000"/>
            </a:pPr>
            <a:r>
              <a:t>• Программа успешно генерирует большие лабиринты</a:t>
            </a:r>
          </a:p>
          <a:p>
            <a:pPr>
              <a:spcAft>
                <a:spcPts val="1000"/>
              </a:spcAft>
              <a:defRPr sz="2000"/>
            </a:pPr>
            <a:r>
              <a:t>• A* находит кратчайший путь за доли секунды</a:t>
            </a:r>
          </a:p>
          <a:p>
            <a:pPr>
              <a:spcAft>
                <a:spcPts val="1000"/>
              </a:spcAft>
              <a:defRPr sz="2000"/>
            </a:pPr>
            <a:r>
              <a:t>• Возможность как автоматического, так и ручного прохождения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 и перспективы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Достигнутые цели:</a:t>
            </a:r>
          </a:p>
          <a:p>
            <a:pPr>
              <a:spcAft>
                <a:spcPts val="1000"/>
              </a:spcAft>
              <a:defRPr sz="2000"/>
            </a:pPr>
            <a:r>
              <a:t>✓ Создан полностью рабочий программный продукт</a:t>
            </a:r>
          </a:p>
          <a:p>
            <a:pPr>
              <a:spcAft>
                <a:spcPts val="1000"/>
              </a:spcAft>
              <a:defRPr sz="2000"/>
            </a:pPr>
            <a:r>
              <a:t>✓ Проведён сравнительный анализ алгоритмов (A* vs DFS)</a:t>
            </a:r>
          </a:p>
          <a:p>
            <a:pPr>
              <a:spcAft>
                <a:spcPts val="1000"/>
              </a:spcAft>
              <a:defRPr sz="2000"/>
            </a:pPr>
            <a:r>
              <a:t>✓ Реализованы 2 режима работы (авто и интерактив)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Перспективы развития:</a:t>
            </a:r>
          </a:p>
          <a:p>
            <a:pPr>
              <a:spcAft>
                <a:spcPts val="1000"/>
              </a:spcAft>
              <a:defRPr sz="2000"/>
            </a:pPr>
            <a:r>
              <a:t>• Добавление других алгоритмов (Дейкстра, BFS, Bellman-Ford)</a:t>
            </a:r>
          </a:p>
          <a:p>
            <a:pPr>
              <a:spcAft>
                <a:spcPts val="1000"/>
              </a:spcAft>
              <a:defRPr sz="2000"/>
            </a:pPr>
            <a:r>
              <a:t>• Графический интерфейс (Tkinter / PyQt)</a:t>
            </a:r>
          </a:p>
          <a:p>
            <a:pPr>
              <a:spcAft>
                <a:spcPts val="1000"/>
              </a:spcAft>
              <a:defRPr sz="2000"/>
            </a:pPr>
            <a:r>
              <a:t>• 3D-визуализация лабиринта</a:t>
            </a:r>
          </a:p>
          <a:p>
            <a:pPr>
              <a:spcAft>
                <a:spcPts val="1000"/>
              </a:spcAft>
              <a:defRPr sz="2000"/>
            </a:pPr>
            <a:r>
              <a:t>• Генерация лабиринтов нестандартных форм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Спасибо за внимание!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Вопросы?</a:t>
            </a:r>
          </a:p>
          <a:p/>
          <a:p>
            <a:r>
              <a:t>Демонстрация работы:</a:t>
            </a:r>
          </a:p>
          <a:p>
            <a:r>
              <a:t>python maze.py</a:t>
            </a:r>
          </a:p>
          <a:p/>
          <a:p>
            <a:r>
              <a:t>Репозиторий проекта: [ссылка]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